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 A (Control)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Mean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6A-43A8-8BE1-BDAF9D0D2B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 B (Treatment)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Mean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4.4279999999999999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6A-43A8-8BE1-BDAF9D0D2B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85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445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</a:t>
            </a:r>
            <a:r>
              <a:rPr lang="en-US" sz="42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-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89135"/>
            <a:ext cx="852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smtClean="0">
                <a:solidFill>
                  <a:srgbClr val="CADCFC"/>
                </a:solidFill>
              </a:rPr>
              <a:t>Does changing </a:t>
            </a:r>
            <a:r>
              <a:rPr lang="en-US" dirty="0">
                <a:solidFill>
                  <a:srgbClr val="CADCFC"/>
                </a:solidFill>
              </a:rPr>
              <a:t>the </a:t>
            </a:r>
            <a:r>
              <a:rPr lang="en-US" dirty="0" smtClean="0">
                <a:solidFill>
                  <a:srgbClr val="CADCFC"/>
                </a:solidFill>
              </a:rPr>
              <a:t>“Popular” banner to </a:t>
            </a:r>
            <a:r>
              <a:rPr lang="en-US" dirty="0">
                <a:solidFill>
                  <a:srgbClr val="CADCFC"/>
                </a:solidFill>
              </a:rPr>
              <a:t>PEO basic </a:t>
            </a:r>
            <a:r>
              <a:rPr lang="en-US" dirty="0" smtClean="0">
                <a:solidFill>
                  <a:srgbClr val="CADCFC"/>
                </a:solidFill>
              </a:rPr>
              <a:t>increase </a:t>
            </a:r>
            <a:r>
              <a:rPr lang="en-US" dirty="0">
                <a:solidFill>
                  <a:srgbClr val="CADCFC"/>
                </a:solidFill>
              </a:rPr>
              <a:t>conversion rates on </a:t>
            </a:r>
            <a:r>
              <a:rPr lang="en-US" dirty="0" smtClean="0">
                <a:solidFill>
                  <a:srgbClr val="CADCFC"/>
                </a:solidFill>
              </a:rPr>
              <a:t>Desktop?</a:t>
            </a:r>
            <a:endParaRPr lang="en-US" dirty="0">
              <a:solidFill>
                <a:srgbClr val="CADCFC"/>
              </a:solidFill>
            </a:endParaRPr>
          </a:p>
          <a:p>
            <a:pPr marL="0" indent="0" algn="l">
              <a:buNone/>
            </a:pP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5" name="Text 3"/>
          <p:cNvSpPr/>
          <p:nvPr/>
        </p:nvSpPr>
        <p:spPr>
          <a:xfrm>
            <a:off x="6261002" y="4476005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D’Souza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Simulated Data</a:t>
            </a:r>
            <a:endParaRPr lang="en-US" sz="1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042330"/>
              </p:ext>
            </p:extLst>
          </p:nvPr>
        </p:nvGraphicFramePr>
        <p:xfrm>
          <a:off x="725364" y="1406962"/>
          <a:ext cx="7855928" cy="32221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27964">
                  <a:extLst>
                    <a:ext uri="{9D8B030D-6E8A-4147-A177-3AD203B41FA5}">
                      <a16:colId xmlns:a16="http://schemas.microsoft.com/office/drawing/2014/main" val="1562050717"/>
                    </a:ext>
                  </a:extLst>
                </a:gridCol>
                <a:gridCol w="3927964">
                  <a:extLst>
                    <a:ext uri="{9D8B030D-6E8A-4147-A177-3AD203B41FA5}">
                      <a16:colId xmlns:a16="http://schemas.microsoft.com/office/drawing/2014/main" val="3157877182"/>
                    </a:ext>
                  </a:extLst>
                </a:gridCol>
              </a:tblGrid>
              <a:tr h="399578">
                <a:tc>
                  <a:txBody>
                    <a:bodyPr/>
                    <a:lstStyle/>
                    <a:p>
                      <a:r>
                        <a:rPr lang="en-US" dirty="0" smtClean="0"/>
                        <a:t>Control – Group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Treatment – Group 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453787"/>
                  </a:ext>
                </a:extLst>
              </a:tr>
              <a:tr h="2822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351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9" t="19334" r="29615" b="13831"/>
          <a:stretch/>
        </p:blipFill>
        <p:spPr>
          <a:xfrm>
            <a:off x="4801480" y="2000970"/>
            <a:ext cx="3657600" cy="24750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3" y="2000970"/>
            <a:ext cx="3538051" cy="241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7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829675"/>
            <a:ext cx="393192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921115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Group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2595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website version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experienced the existing design and flow without any modifications. Served as the baseline for comparison.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2423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829675"/>
            <a:ext cx="3931920" cy="2560320"/>
          </a:xfrm>
          <a:prstGeom prst="rect">
            <a:avLst/>
          </a:prstGeom>
          <a:solidFill>
            <a:srgbClr val="CADCFC"/>
          </a:solidFill>
          <a:ln w="12700">
            <a:solidFill>
              <a:srgbClr val="AAB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921115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— Group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332595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website version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experienced the updated website design and flow. Changes were intended to improve the core user metric by enhancing the experience.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402423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789795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78979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unit: User  |  Both groups equally sized at 200 users each  |  Two-tailed hypothesis test</a:t>
            </a:r>
            <a:endParaRPr lang="en-US" sz="1000" dirty="0"/>
          </a:p>
        </p:txBody>
      </p:sp>
      <p:sp>
        <p:nvSpPr>
          <p:cNvPr id="15" name="Shape 1"/>
          <p:cNvSpPr/>
          <p:nvPr/>
        </p:nvSpPr>
        <p:spPr>
          <a:xfrm>
            <a:off x="365760" y="868680"/>
            <a:ext cx="8412480" cy="83702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3"/>
          <p:cNvSpPr/>
          <p:nvPr/>
        </p:nvSpPr>
        <p:spPr>
          <a:xfrm>
            <a:off x="365760" y="719491"/>
            <a:ext cx="8217877" cy="10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/>
              <a:t>Hypothesis: Changing the </a:t>
            </a:r>
            <a:r>
              <a:rPr lang="en-US" sz="1300" dirty="0" smtClean="0"/>
              <a:t>popular </a:t>
            </a:r>
            <a:r>
              <a:rPr lang="en-US" sz="1300" dirty="0"/>
              <a:t>banner </a:t>
            </a:r>
            <a:r>
              <a:rPr lang="en-US" sz="1300" dirty="0" smtClean="0"/>
              <a:t>to PEO basic does not </a:t>
            </a:r>
            <a:r>
              <a:rPr lang="en-US" sz="1300" dirty="0"/>
              <a:t>have a difference in conversion Rates (CVR)</a:t>
            </a:r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/>
              <a:t> CVR: Total </a:t>
            </a:r>
            <a:r>
              <a:rPr lang="en-US" sz="1300" dirty="0" smtClean="0"/>
              <a:t>Conversions/Total </a:t>
            </a:r>
            <a:r>
              <a:rPr lang="en-US" sz="1300" dirty="0"/>
              <a:t>views on Desktop.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Lift (Absolute)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vs Group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651760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375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Highly Significant (α = 0.05)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51560"/>
            <a:ext cx="2651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+47.4%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Improvement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over 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(new website version) outperformed Group A by 47.4% on the primary metric with overwhelming statistical confidence — both parametric and non-parametric tests confirm the result.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40690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SHIP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Group A vs Group B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47472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3.004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(Control)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·  std = 0.970  ·  n = 200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2240280"/>
            <a:ext cx="10972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(+47.4%)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051560"/>
            <a:ext cx="3474720" cy="23774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11430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4.428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52120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 (Treatment)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·  std = 0.968  ·  n = 200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 —  Welch t-test: t = −14.69, p &lt; 0.0001  |  Mann-Whitney U: p &lt; 0.0001  |  Cohen's d = 1.47 (Large effect)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 for difference: [+1.23, +1.61]  |  Both groups passed Shapiro-Wilk normality test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Distribution Comparison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6012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mean is 47.4% higher than Group A — a large, statistically significant difference (p &lt; 0.0001, Cohen's d = 1.47)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Design &amp; Robustness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63287"/>
              </p:ext>
            </p:extLst>
          </p:nvPr>
        </p:nvGraphicFramePr>
        <p:xfrm>
          <a:off x="365760" y="1005840"/>
          <a:ext cx="5486400" cy="356615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two-sample t-test (two-tailed)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200 per group (400 total)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(B − 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[+1.23, +1.61]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2834640" cy="3566160"/>
          </a:xfrm>
          <a:prstGeom prst="rect">
            <a:avLst/>
          </a:prstGeom>
          <a:solidFill>
            <a:srgbClr val="CADCFC"/>
          </a:solidFill>
          <a:ln w="12700">
            <a:solidFill>
              <a:srgbClr val="AAB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0" y="150876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are normally distributed — parametric t-test is valid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95% CI is positive — no scenario where A beats 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robust: p &lt; 0.0001 vs threshold of 0.05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286000" y="1143000"/>
            <a:ext cx="4572000" cy="9144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143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SHIP 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Group B outperformed Group A by +1.42 (+47.4%) — p &lt; 0.0001, large effect (Cohen's d = 1.47)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robustness: Both parametric and non-parametric tests agree; 95% CI is entirely positive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adequacy: 200 users per group with both groups normally distributed — analysis is valid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new website version (Group B) to 100% of users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primary metric and guardrail KPIs for 30 days post-launch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learnings and define hypothesis for the next experiment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Statistical Detail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Full Descriptive Statistics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77977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 (Control)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(Treatment)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(B −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+1.424  (+47.4%)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Shapiro-Wilk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  ✓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  ✓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Min/Max are approximate values from the raw data files.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Hypothesis &amp; Statistical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AABF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"By deploying the new website version (Group B), we expect the primary user metric to increase significantly compared to the existing version (Group A)."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841248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(α)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(5% false positive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power (1−β)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(80% — standard for A/B tests)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two-sample t-test (two-tailed) + Mann-Whitney U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(individual-level randomisation)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per 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effect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 = 1.47 (Large — threshold is 0.8)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collected from both groups simultaneously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732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Version Pilot — A/B Test Results</dc:title>
  <dc:subject>PptxGenJS Presentation</dc:subject>
  <dc:creator>PptxGenJS</dc:creator>
  <cp:lastModifiedBy>Shawn D'Souza</cp:lastModifiedBy>
  <cp:revision>10</cp:revision>
  <dcterms:created xsi:type="dcterms:W3CDTF">2026-06-08T03:31:14Z</dcterms:created>
  <dcterms:modified xsi:type="dcterms:W3CDTF">2026-06-09T13:01:48Z</dcterms:modified>
</cp:coreProperties>
</file>